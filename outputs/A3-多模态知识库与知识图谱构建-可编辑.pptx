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245"/>
            </a:gs>
            <a:gs pos="45000">
              <a:srgbClr val="001B68"/>
            </a:gs>
            <a:gs pos="100000">
              <a:srgbClr val="030B30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46E8">
                  <a:alpha val="22000"/>
                </a:srgbClr>
              </a:gs>
              <a:gs pos="45000">
                <a:srgbClr val="001245">
                  <a:alpha val="0"/>
                </a:srgbClr>
              </a:gs>
              <a:gs pos="100000">
                <a:srgbClr val="00C8FF">
                  <a:alpha val="16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0" y="8382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0" y="10477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0" y="14097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16192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0" y="19812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0" y="21907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0" y="25527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0" y="27622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0" y="31242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0" y="33337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36957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39052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42672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44767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8387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41020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5619750"/>
            <a:ext cx="12192000" cy="76200"/>
          </a:xfrm>
          <a:prstGeom prst="line">
            <a:avLst/>
          </a:prstGeom>
          <a:noFill/>
          <a:ln w="4286">
            <a:solidFill>
              <a:srgbClr val="1D4ED8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3810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13716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23622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33528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43434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53340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63246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73152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3058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92964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02870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1277600" y="0"/>
            <a:ext cx="476250" cy="6858000"/>
          </a:xfrm>
          <a:prstGeom prst="line">
            <a:avLst/>
          </a:prstGeom>
          <a:noFill/>
          <a:ln w="3334">
            <a:solidFill>
              <a:srgbClr val="0EA5E9"/>
            </a:solidFill>
            <a:prstDash val="solid"/>
          </a:ln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9715500" y="4857750"/>
            <a:ext cx="1524000" cy="571500"/>
          </a:xfrm>
          <a:prstGeom prst="ellipse">
            <a:avLst/>
          </a:prstGeom>
          <a:solidFill>
            <a:srgbClr val="0EA5E9">
              <a:alpha val="20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400050" y="342900"/>
            <a:ext cx="1352550" cy="514350"/>
          </a:xfrm>
          <a:prstGeom prst="ellipse">
            <a:avLst/>
          </a:prstGeom>
          <a:solidFill>
            <a:srgbClr val="0EA5E9">
              <a:alpha val="30000"/>
            </a:srgbClr>
          </a:solidFill>
          <a:ln w="9525">
            <a:solidFill>
              <a:srgbClr val="38BDF8"/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552450" y="628650"/>
            <a:ext cx="1066800" cy="400050"/>
          </a:xfrm>
          <a:prstGeom prst="ellips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42950" y="266700"/>
            <a:ext cx="590550" cy="457200"/>
          </a:xfrm>
          <a:prstGeom prst="rect">
            <a:avLst/>
          </a:prstGeom>
          <a:solidFill>
            <a:srgbClr val="DBEAFE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200150" y="228600"/>
            <a:ext cx="323850" cy="400050"/>
          </a:xfrm>
          <a:prstGeom prst="rect">
            <a:avLst/>
          </a:prstGeom>
          <a:solidFill>
            <a:srgbClr val="EFF6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809625" y="152400"/>
            <a:ext cx="85725" cy="7620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895350" y="152400"/>
            <a:ext cx="114300" cy="3810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1009650" y="133350"/>
            <a:ext cx="114300" cy="5715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1123950" y="133350"/>
            <a:ext cx="133350" cy="7620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1257300" y="209550"/>
            <a:ext cx="38100" cy="13335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1200150" y="342900"/>
            <a:ext cx="95250" cy="11430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1047750" y="419100"/>
            <a:ext cx="152400" cy="3810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914400" y="419100"/>
            <a:ext cx="133350" cy="5715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781050" y="400050"/>
            <a:ext cx="133350" cy="76200"/>
          </a:xfrm>
          <a:prstGeom prst="line">
            <a:avLst/>
          </a:prstGeom>
          <a:noFill/>
          <a:ln w="14288">
            <a:solidFill>
              <a:srgbClr val="7DD3FC"/>
            </a:solidFill>
            <a:prstDash val="solid"/>
          </a:ln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785813" y="20478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871538" y="12858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985838" y="16668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1100138" y="10953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1233488" y="18573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1271588" y="31908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1176338" y="43338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1023938" y="39528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890588" y="452438"/>
            <a:ext cx="47625" cy="47625"/>
          </a:xfrm>
          <a:prstGeom prst="ellipse">
            <a:avLst/>
          </a:prstGeom>
          <a:solidFill>
            <a:srgbClr val="7DD3FC"/>
          </a:solidFill>
          <a:ln w="0">
            <a:solidFill>
              <a:srgbClr val="7DD3FC"/>
            </a:solidFill>
            <a:prstDash val="solid"/>
          </a:ln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3667125" y="152400"/>
            <a:ext cx="1428750" cy="514350"/>
          </a:xfrm>
          <a:prstGeom prst="roundRect">
            <a:avLst>
              <a:gd name="adj" fmla="val 12963"/>
            </a:avLst>
          </a:prstGeom>
          <a:solidFill>
            <a:srgbClr val="082265">
              <a:alpha val="70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667125" y="266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sz="1800" b="1">
              <a:solidFill>
                <a:srgbClr val="C7D2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5172075" y="152400"/>
            <a:ext cx="1428750" cy="514350"/>
          </a:xfrm>
          <a:prstGeom prst="roundRect">
            <a:avLst>
              <a:gd name="adj" fmla="val 12963"/>
            </a:avLst>
          </a:prstGeom>
          <a:solidFill>
            <a:srgbClr val="082265">
              <a:alpha val="70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172075" y="266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sz="1800" b="1">
              <a:solidFill>
                <a:srgbClr val="C7D2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6677025" y="152400"/>
            <a:ext cx="1428750" cy="514350"/>
          </a:xfrm>
          <a:prstGeom prst="roundRect">
            <a:avLst>
              <a:gd name="adj" fmla="val 12963"/>
            </a:avLst>
          </a:prstGeom>
          <a:gradFill>
            <a:gsLst>
              <a:gs pos="0">
                <a:srgbClr val="0EA5FF"/>
              </a:gs>
              <a:gs pos="100000">
                <a:srgbClr val="002ECB"/>
              </a:gs>
            </a:gsLst>
            <a:lin ang="0"/>
          </a:gradFill>
          <a:ln w="19050">
            <a:solidFill>
              <a:srgbClr val="7DD3FC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61" name="矩形 60"/>
          <p:cNvSpPr>
            <a:spLocks noGrp="1"/>
          </p:cNvSpPr>
          <p:nvPr/>
        </p:nvSpPr>
        <p:spPr>
          <a:xfrm>
            <a:off x="6677025" y="266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核心创新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8181975" y="152400"/>
            <a:ext cx="1428750" cy="514350"/>
          </a:xfrm>
          <a:prstGeom prst="roundRect">
            <a:avLst>
              <a:gd name="adj" fmla="val 12963"/>
            </a:avLst>
          </a:prstGeom>
          <a:solidFill>
            <a:srgbClr val="082265">
              <a:alpha val="70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8181975" y="266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系统实现</a:t>
            </a:r>
            <a:endParaRPr sz="1800" b="1">
              <a:solidFill>
                <a:srgbClr val="C7D2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9686925" y="152400"/>
            <a:ext cx="1428750" cy="514350"/>
          </a:xfrm>
          <a:prstGeom prst="roundRect">
            <a:avLst>
              <a:gd name="adj" fmla="val 12963"/>
            </a:avLst>
          </a:prstGeom>
          <a:solidFill>
            <a:srgbClr val="082265">
              <a:alpha val="70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686925" y="266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D2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成果展望</a:t>
            </a:r>
            <a:endParaRPr sz="1800" b="1">
              <a:solidFill>
                <a:srgbClr val="C7D2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2571750" y="838200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多模态知识库与知识图谱构建</a:t>
            </a:r>
            <a:endParaRPr sz="33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2857500" y="1428750"/>
            <a:ext cx="647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从课程资料到可检索、可引用、可推理的学习知识底座</a:t>
            </a:r>
            <a:endParaRPr sz="2025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2857500" y="1838325"/>
            <a:ext cx="6496050" cy="0"/>
          </a:xfrm>
          <a:prstGeom prst="line">
            <a:avLst/>
          </a:prstGeom>
          <a:noFill/>
          <a:ln w="9525">
            <a:solidFill>
              <a:srgbClr val="60A5FA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3048000" y="1943100"/>
            <a:ext cx="609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多模态解析 + 多索引检索 + 图谱推理 + 来源证据绑定 的知识底座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342900" y="2266950"/>
            <a:ext cx="3314700" cy="2647950"/>
          </a:xfrm>
          <a:prstGeom prst="roundRect">
            <a:avLst>
              <a:gd name="adj" fmla="val 6475"/>
            </a:avLst>
          </a:prstGeom>
          <a:gradFill>
            <a:gsLst>
              <a:gs pos="0">
                <a:srgbClr val="EAF4FF"/>
              </a:gs>
              <a:gs pos="45000">
                <a:srgbClr val="FFFF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93C5F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71" name="圆角矩形 70"/>
          <p:cNvSpPr>
            <a:spLocks noGrp="1"/>
          </p:cNvSpPr>
          <p:nvPr/>
        </p:nvSpPr>
        <p:spPr>
          <a:xfrm>
            <a:off x="476250" y="2381250"/>
            <a:ext cx="666750" cy="361950"/>
          </a:xfrm>
          <a:prstGeom prst="roundRect">
            <a:avLst>
              <a:gd name="adj" fmla="val 31579"/>
            </a:avLst>
          </a:prstGeom>
          <a:gradFill>
            <a:gsLst>
              <a:gs pos="0">
                <a:srgbClr val="1455FF"/>
              </a:gs>
              <a:gs pos="100000">
                <a:srgbClr val="60A5FA"/>
              </a:gs>
            </a:gsLst>
            <a:lin ang="0"/>
          </a:gradFill>
          <a:ln w="9525">
            <a:solidFill>
              <a:srgbClr val="BFDBFE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76250" y="2428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276350" y="2438400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46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646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数据输入层</a:t>
            </a:r>
            <a:endParaRPr sz="1575" b="1">
              <a:solidFill>
                <a:srgbClr val="0646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276350" y="3009900"/>
            <a:ext cx="361950" cy="51435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504950" y="2933700"/>
            <a:ext cx="400050" cy="5715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866900" y="3124200"/>
            <a:ext cx="704850" cy="419100"/>
          </a:xfrm>
          <a:prstGeom prst="rect">
            <a:avLst/>
          </a:prstGeom>
          <a:solidFill>
            <a:srgbClr val="1D4ED8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77" name="椭圆 76"/>
          <p:cNvSpPr>
            <a:spLocks noGrp="1"/>
          </p:cNvSpPr>
          <p:nvPr/>
        </p:nvSpPr>
        <p:spPr>
          <a:xfrm>
            <a:off x="1200150" y="3486150"/>
            <a:ext cx="1524000" cy="209550"/>
          </a:xfrm>
          <a:prstGeom prst="ellipse">
            <a:avLst/>
          </a:prstGeom>
          <a:noFill/>
          <a:ln w="28575">
            <a:solidFill>
              <a:srgbClr val="93C5FD"/>
            </a:solidFill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571500" y="3486150"/>
            <a:ext cx="1104900" cy="266700"/>
          </a:xfrm>
          <a:prstGeom prst="roundRect">
            <a:avLst>
              <a:gd name="adj" fmla="val 28571"/>
            </a:avLst>
          </a:prstGeom>
          <a:gradFill>
            <a:gsLst>
              <a:gs pos="0">
                <a:srgbClr val="1455FF"/>
              </a:gs>
              <a:gs pos="100000">
                <a:srgbClr val="2B7BFF"/>
              </a:gs>
            </a:gsLst>
            <a:lin ang="0"/>
          </a:gradFill>
          <a:ln w="9525">
            <a:solidFill>
              <a:srgbClr val="6EE7FF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685800" y="352425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多源课程资料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647700" y="3781425"/>
            <a:ext cx="2705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PDF / PPTX / 图片 / XLSX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教材、课件、题库、实验文档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直接连接符 80"/>
          <p:cNvSpPr>
            <a:spLocks noGrp="1"/>
          </p:cNvSpPr>
          <p:nvPr/>
        </p:nvSpPr>
        <p:spPr>
          <a:xfrm>
            <a:off x="666750" y="4095750"/>
            <a:ext cx="2667000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dash"/>
          </a:ln>
        </p:spPr>
      </p:sp>
      <p:sp>
        <p:nvSpPr>
          <p:cNvPr id="82" name="圆角矩形 81"/>
          <p:cNvSpPr>
            <a:spLocks noGrp="1"/>
          </p:cNvSpPr>
          <p:nvPr/>
        </p:nvSpPr>
        <p:spPr>
          <a:xfrm>
            <a:off x="571500" y="4171950"/>
            <a:ext cx="1104900" cy="266700"/>
          </a:xfrm>
          <a:prstGeom prst="roundRect">
            <a:avLst>
              <a:gd name="adj" fmla="val 28571"/>
            </a:avLst>
          </a:prstGeom>
          <a:gradFill>
            <a:gsLst>
              <a:gs pos="0">
                <a:srgbClr val="1455FF"/>
              </a:gs>
              <a:gs pos="100000">
                <a:srgbClr val="2B7BFF"/>
              </a:gs>
            </a:gsLst>
            <a:lin ang="0"/>
          </a:gradFill>
          <a:ln w="9525">
            <a:solidFill>
              <a:srgbClr val="6EE7FF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685800" y="421005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保留来源元数据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47700" y="4467225"/>
            <a:ext cx="2705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文件名、页码、幻灯片号、权限、上传用户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4438650" y="2266950"/>
            <a:ext cx="3314700" cy="2647950"/>
          </a:xfrm>
          <a:prstGeom prst="roundRect">
            <a:avLst>
              <a:gd name="adj" fmla="val 6475"/>
            </a:avLst>
          </a:prstGeom>
          <a:gradFill>
            <a:gsLst>
              <a:gs pos="0">
                <a:srgbClr val="EAF4FF"/>
              </a:gs>
              <a:gs pos="45000">
                <a:srgbClr val="FFFF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93C5F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86" name="圆角矩形 85"/>
          <p:cNvSpPr>
            <a:spLocks noGrp="1"/>
          </p:cNvSpPr>
          <p:nvPr/>
        </p:nvSpPr>
        <p:spPr>
          <a:xfrm>
            <a:off x="4572000" y="2381250"/>
            <a:ext cx="666750" cy="361950"/>
          </a:xfrm>
          <a:prstGeom prst="roundRect">
            <a:avLst>
              <a:gd name="adj" fmla="val 31579"/>
            </a:avLst>
          </a:prstGeom>
          <a:gradFill>
            <a:gsLst>
              <a:gs pos="0">
                <a:srgbClr val="1455FF"/>
              </a:gs>
              <a:gs pos="100000">
                <a:srgbClr val="60A5FA"/>
              </a:gs>
            </a:gsLst>
            <a:lin ang="0"/>
          </a:gradFill>
          <a:ln w="9525">
            <a:solidFill>
              <a:srgbClr val="BFDBFE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4572000" y="2428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5372100" y="2438400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46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646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多模态解析与索引层</a:t>
            </a:r>
            <a:endParaRPr sz="1575" b="1">
              <a:solidFill>
                <a:srgbClr val="0646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5238750" y="3086100"/>
            <a:ext cx="285750" cy="3429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5600700" y="3086100"/>
            <a:ext cx="285750" cy="3429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5962650" y="3086100"/>
            <a:ext cx="323850" cy="34290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2" name="椭圆 91"/>
          <p:cNvSpPr>
            <a:spLocks noGrp="1"/>
          </p:cNvSpPr>
          <p:nvPr/>
        </p:nvSpPr>
        <p:spPr>
          <a:xfrm>
            <a:off x="6400800" y="2952750"/>
            <a:ext cx="609600" cy="609600"/>
          </a:xfrm>
          <a:prstGeom prst="ellipse">
            <a:avLst/>
          </a:prstGeom>
          <a:solidFill>
            <a:srgbClr val="2D6CD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93" name="椭圆 92"/>
          <p:cNvSpPr>
            <a:spLocks noGrp="1"/>
          </p:cNvSpPr>
          <p:nvPr/>
        </p:nvSpPr>
        <p:spPr>
          <a:xfrm>
            <a:off x="6581775" y="3133725"/>
            <a:ext cx="247650" cy="247650"/>
          </a:xfrm>
          <a:prstGeom prst="ellipse">
            <a:avLst/>
          </a:prstGeom>
          <a:solidFill>
            <a:srgbClr val="EAF4FF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94" name="右箭头 93"/>
          <p:cNvSpPr>
            <a:spLocks noGrp="1"/>
          </p:cNvSpPr>
          <p:nvPr/>
        </p:nvSpPr>
        <p:spPr>
          <a:xfrm>
            <a:off x="7105650" y="3143250"/>
            <a:ext cx="400050" cy="209550"/>
          </a:xfrm>
          <a:prstGeom prst="rightArrow">
            <a:avLst/>
          </a:prstGeom>
          <a:solidFill>
            <a:srgbClr val="2563EB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5" name="圆柱形 94"/>
          <p:cNvSpPr>
            <a:spLocks noGrp="1"/>
          </p:cNvSpPr>
          <p:nvPr/>
        </p:nvSpPr>
        <p:spPr>
          <a:xfrm>
            <a:off x="7600950" y="2971800"/>
            <a:ext cx="514350" cy="590550"/>
          </a:xfrm>
          <a:prstGeom prst="can">
            <a:avLst/>
          </a:prstGeom>
          <a:solidFill>
            <a:srgbClr val="1D4ED8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96" name="椭圆 95"/>
          <p:cNvSpPr>
            <a:spLocks noGrp="1"/>
          </p:cNvSpPr>
          <p:nvPr/>
        </p:nvSpPr>
        <p:spPr>
          <a:xfrm>
            <a:off x="8229600" y="3028950"/>
            <a:ext cx="361950" cy="361950"/>
          </a:xfrm>
          <a:prstGeom prst="ellips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7" name="直接连接符 96"/>
          <p:cNvSpPr>
            <a:spLocks noGrp="1"/>
          </p:cNvSpPr>
          <p:nvPr/>
        </p:nvSpPr>
        <p:spPr>
          <a:xfrm>
            <a:off x="8534400" y="3352800"/>
            <a:ext cx="190500" cy="19050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8" name="圆角矩形 97"/>
          <p:cNvSpPr>
            <a:spLocks noGrp="1"/>
          </p:cNvSpPr>
          <p:nvPr/>
        </p:nvSpPr>
        <p:spPr>
          <a:xfrm>
            <a:off x="4667250" y="3486150"/>
            <a:ext cx="1104900" cy="266700"/>
          </a:xfrm>
          <a:prstGeom prst="roundRect">
            <a:avLst>
              <a:gd name="adj" fmla="val 28571"/>
            </a:avLst>
          </a:prstGeom>
          <a:gradFill>
            <a:gsLst>
              <a:gs pos="0">
                <a:srgbClr val="1455FF"/>
              </a:gs>
              <a:gs pos="100000">
                <a:srgbClr val="2B7BFF"/>
              </a:gs>
            </a:gsLst>
            <a:lin ang="0"/>
          </a:gradFill>
          <a:ln w="9525">
            <a:solidFill>
              <a:srgbClr val="6EE7FF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4781550" y="352425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多模态解析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4743450" y="3781425"/>
            <a:ext cx="2705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文本抽取、页面渲染、OCR、VLM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表格 / 公式 / 图片块识别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4762500" y="4095750"/>
            <a:ext cx="2667000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dash"/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4667250" y="4171950"/>
            <a:ext cx="1104900" cy="266700"/>
          </a:xfrm>
          <a:prstGeom prst="roundRect">
            <a:avLst>
              <a:gd name="adj" fmla="val 28571"/>
            </a:avLst>
          </a:prstGeom>
          <a:gradFill>
            <a:gsLst>
              <a:gs pos="0">
                <a:srgbClr val="1455FF"/>
              </a:gs>
              <a:gs pos="100000">
                <a:srgbClr val="2B7BFF"/>
              </a:gs>
            </a:gsLst>
            <a:lin ang="0"/>
          </a:gradFill>
          <a:ln w="9525">
            <a:solidFill>
              <a:srgbClr val="6EE7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4781550" y="421005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多路索引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4743450" y="4467225"/>
            <a:ext cx="2705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FAISS 文本向量 / BM25 关键词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visual_vector 视觉索引 / metadata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8534400" y="2266950"/>
            <a:ext cx="3314700" cy="2647950"/>
          </a:xfrm>
          <a:prstGeom prst="roundRect">
            <a:avLst>
              <a:gd name="adj" fmla="val 6475"/>
            </a:avLst>
          </a:prstGeom>
          <a:gradFill>
            <a:gsLst>
              <a:gs pos="0">
                <a:srgbClr val="EAF4FF"/>
              </a:gs>
              <a:gs pos="45000">
                <a:srgbClr val="FFFF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93C5F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106" name="圆角矩形 105"/>
          <p:cNvSpPr>
            <a:spLocks noGrp="1"/>
          </p:cNvSpPr>
          <p:nvPr/>
        </p:nvSpPr>
        <p:spPr>
          <a:xfrm>
            <a:off x="8667750" y="2381250"/>
            <a:ext cx="666750" cy="361950"/>
          </a:xfrm>
          <a:prstGeom prst="roundRect">
            <a:avLst>
              <a:gd name="adj" fmla="val 31579"/>
            </a:avLst>
          </a:prstGeom>
          <a:gradFill>
            <a:gsLst>
              <a:gs pos="0">
                <a:srgbClr val="1455FF"/>
              </a:gs>
              <a:gs pos="100000">
                <a:srgbClr val="60A5FA"/>
              </a:gs>
            </a:gsLst>
            <a:lin ang="0"/>
          </a:gradFill>
          <a:ln w="9525">
            <a:solidFill>
              <a:srgbClr val="BFDBFE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8667750" y="2428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9467850" y="2438400"/>
            <a:ext cx="224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646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646C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知识结构化与推理层</a:t>
            </a:r>
            <a:endParaRPr sz="1575" b="1">
              <a:solidFill>
                <a:srgbClr val="0646C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9696450" y="3200400"/>
            <a:ext cx="266700" cy="4191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0" name="直接连接符 109"/>
          <p:cNvSpPr>
            <a:spLocks noGrp="1"/>
          </p:cNvSpPr>
          <p:nvPr/>
        </p:nvSpPr>
        <p:spPr>
          <a:xfrm>
            <a:off x="9963150" y="3257550"/>
            <a:ext cx="285750" cy="36195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10248900" y="2914650"/>
            <a:ext cx="304800" cy="3429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2" name="直接连接符 111"/>
          <p:cNvSpPr>
            <a:spLocks noGrp="1"/>
          </p:cNvSpPr>
          <p:nvPr/>
        </p:nvSpPr>
        <p:spPr>
          <a:xfrm>
            <a:off x="10553700" y="2914650"/>
            <a:ext cx="323850" cy="3048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10877550" y="3219450"/>
            <a:ext cx="323850" cy="2667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4" name="直接连接符 113"/>
          <p:cNvSpPr>
            <a:spLocks noGrp="1"/>
          </p:cNvSpPr>
          <p:nvPr/>
        </p:nvSpPr>
        <p:spPr>
          <a:xfrm>
            <a:off x="11201400" y="2990850"/>
            <a:ext cx="190500" cy="4953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5" name="椭圆 114"/>
          <p:cNvSpPr>
            <a:spLocks noGrp="1"/>
          </p:cNvSpPr>
          <p:nvPr/>
        </p:nvSpPr>
        <p:spPr>
          <a:xfrm>
            <a:off x="9620250" y="3124200"/>
            <a:ext cx="152400" cy="152400"/>
          </a:xfrm>
          <a:prstGeom prst="ellipse">
            <a:avLst/>
          </a:prstGeom>
          <a:solidFill>
            <a:srgbClr val="60A5F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6" name="椭圆 115"/>
          <p:cNvSpPr>
            <a:spLocks noGrp="1"/>
          </p:cNvSpPr>
          <p:nvPr/>
        </p:nvSpPr>
        <p:spPr>
          <a:xfrm>
            <a:off x="9886950" y="3543300"/>
            <a:ext cx="152400" cy="152400"/>
          </a:xfrm>
          <a:prstGeom prst="ellipse">
            <a:avLst/>
          </a:prstGeom>
          <a:solidFill>
            <a:srgbClr val="60A5F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7" name="椭圆 116"/>
          <p:cNvSpPr>
            <a:spLocks noGrp="1"/>
          </p:cNvSpPr>
          <p:nvPr/>
        </p:nvSpPr>
        <p:spPr>
          <a:xfrm>
            <a:off x="10172700" y="3181350"/>
            <a:ext cx="152400" cy="152400"/>
          </a:xfrm>
          <a:prstGeom prst="ellipse">
            <a:avLst/>
          </a:prstGeom>
          <a:solidFill>
            <a:srgbClr val="60A5F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8" name="椭圆 117"/>
          <p:cNvSpPr>
            <a:spLocks noGrp="1"/>
          </p:cNvSpPr>
          <p:nvPr/>
        </p:nvSpPr>
        <p:spPr>
          <a:xfrm>
            <a:off x="10477500" y="2838450"/>
            <a:ext cx="152400" cy="152400"/>
          </a:xfrm>
          <a:prstGeom prst="ellipse">
            <a:avLst/>
          </a:prstGeom>
          <a:solidFill>
            <a:srgbClr val="60A5F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9" name="椭圆 118"/>
          <p:cNvSpPr>
            <a:spLocks noGrp="1"/>
          </p:cNvSpPr>
          <p:nvPr/>
        </p:nvSpPr>
        <p:spPr>
          <a:xfrm>
            <a:off x="10801350" y="3143250"/>
            <a:ext cx="152400" cy="152400"/>
          </a:xfrm>
          <a:prstGeom prst="ellipse">
            <a:avLst/>
          </a:prstGeom>
          <a:solidFill>
            <a:srgbClr val="60A5F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20" name="椭圆 119"/>
          <p:cNvSpPr>
            <a:spLocks noGrp="1"/>
          </p:cNvSpPr>
          <p:nvPr/>
        </p:nvSpPr>
        <p:spPr>
          <a:xfrm>
            <a:off x="11125200" y="3409950"/>
            <a:ext cx="152400" cy="152400"/>
          </a:xfrm>
          <a:prstGeom prst="ellipse">
            <a:avLst/>
          </a:prstGeom>
          <a:solidFill>
            <a:srgbClr val="60A5F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21" name="椭圆 120"/>
          <p:cNvSpPr>
            <a:spLocks noGrp="1"/>
          </p:cNvSpPr>
          <p:nvPr/>
        </p:nvSpPr>
        <p:spPr>
          <a:xfrm>
            <a:off x="11315700" y="2914650"/>
            <a:ext cx="152400" cy="152400"/>
          </a:xfrm>
          <a:prstGeom prst="ellipse">
            <a:avLst/>
          </a:prstGeom>
          <a:solidFill>
            <a:srgbClr val="60A5F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22" name="椭圆 121"/>
          <p:cNvSpPr>
            <a:spLocks noGrp="1"/>
          </p:cNvSpPr>
          <p:nvPr/>
        </p:nvSpPr>
        <p:spPr>
          <a:xfrm>
            <a:off x="9410700" y="3600450"/>
            <a:ext cx="2000250" cy="228600"/>
          </a:xfrm>
          <a:prstGeom prst="ellipse">
            <a:avLst/>
          </a:prstGeom>
          <a:noFill/>
          <a:ln w="28575">
            <a:solidFill>
              <a:srgbClr val="BFDBFE"/>
            </a:solidFill>
            <a:prstDash val="solid"/>
          </a:ln>
        </p:spPr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8763000" y="3486150"/>
            <a:ext cx="1104900" cy="266700"/>
          </a:xfrm>
          <a:prstGeom prst="roundRect">
            <a:avLst>
              <a:gd name="adj" fmla="val 28571"/>
            </a:avLst>
          </a:prstGeom>
          <a:gradFill>
            <a:gsLst>
              <a:gs pos="0">
                <a:srgbClr val="1455FF"/>
              </a:gs>
              <a:gs pos="100000">
                <a:srgbClr val="2B7BFF"/>
              </a:gs>
            </a:gsLst>
            <a:lin ang="0"/>
          </a:gradFill>
          <a:ln w="9525">
            <a:solidFill>
              <a:srgbClr val="6EE7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8877300" y="352425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结构化知识沉淀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矩形 124"/>
          <p:cNvSpPr>
            <a:spLocks noGrp="1"/>
          </p:cNvSpPr>
          <p:nvPr/>
        </p:nvSpPr>
        <p:spPr>
          <a:xfrm>
            <a:off x="8839200" y="3781425"/>
            <a:ext cx="2705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Wiki：概念、定义、别名、摘要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图谱：实体、关系、claim、证据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直接连接符 125"/>
          <p:cNvSpPr>
            <a:spLocks noGrp="1"/>
          </p:cNvSpPr>
          <p:nvPr/>
        </p:nvSpPr>
        <p:spPr>
          <a:xfrm>
            <a:off x="8858250" y="4095750"/>
            <a:ext cx="2667000" cy="0"/>
          </a:xfrm>
          <a:prstGeom prst="line">
            <a:avLst/>
          </a:prstGeom>
          <a:noFill/>
          <a:ln w="9525">
            <a:solidFill>
              <a:srgbClr val="93C5FD"/>
            </a:solidFill>
            <a:prstDash val="dash"/>
          </a:ln>
        </p:spPr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8763000" y="4171950"/>
            <a:ext cx="1104900" cy="266700"/>
          </a:xfrm>
          <a:prstGeom prst="roundRect">
            <a:avLst>
              <a:gd name="adj" fmla="val 28571"/>
            </a:avLst>
          </a:prstGeom>
          <a:gradFill>
            <a:gsLst>
              <a:gs pos="0">
                <a:srgbClr val="1455FF"/>
              </a:gs>
              <a:gs pos="100000">
                <a:srgbClr val="2B7BFF"/>
              </a:gs>
            </a:gsLst>
            <a:lin ang="0"/>
          </a:gradFill>
          <a:ln w="9525">
            <a:solidFill>
              <a:srgbClr val="6EE7FF"/>
            </a:solidFill>
            <a:prstDash val="solid"/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8877300" y="4210050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深度检索路由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矩形 128"/>
          <p:cNvSpPr>
            <a:spLocks noGrp="1"/>
          </p:cNvSpPr>
          <p:nvPr/>
        </p:nvSpPr>
        <p:spPr>
          <a:xfrm>
            <a:off x="8839200" y="4467225"/>
            <a:ext cx="2705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定义走 Wiki，关系走 Graph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普通走 Vector / Hybrid，无证据降级</a:t>
            </a:r>
            <a:endParaRPr sz="8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右箭头 129"/>
          <p:cNvSpPr>
            <a:spLocks noGrp="1"/>
          </p:cNvSpPr>
          <p:nvPr/>
        </p:nvSpPr>
        <p:spPr>
          <a:xfrm>
            <a:off x="3733800" y="3390900"/>
            <a:ext cx="457200" cy="304800"/>
          </a:xfrm>
          <a:prstGeom prst="rightArrow">
            <a:avLst/>
          </a:prstGeom>
          <a:solidFill>
            <a:srgbClr val="38BD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1" name="右箭头 130"/>
          <p:cNvSpPr>
            <a:spLocks noGrp="1"/>
          </p:cNvSpPr>
          <p:nvPr/>
        </p:nvSpPr>
        <p:spPr>
          <a:xfrm>
            <a:off x="7829550" y="3390900"/>
            <a:ext cx="457200" cy="304800"/>
          </a:xfrm>
          <a:prstGeom prst="rightArrow">
            <a:avLst/>
          </a:prstGeom>
          <a:solidFill>
            <a:srgbClr val="38BD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323850" y="5010150"/>
            <a:ext cx="11544300" cy="1066800"/>
          </a:xfrm>
          <a:prstGeom prst="roundRect">
            <a:avLst>
              <a:gd name="adj" fmla="val 19643"/>
            </a:avLst>
          </a:prstGeom>
          <a:gradFill>
            <a:gsLst>
              <a:gs pos="0">
                <a:srgbClr val="05216D"/>
              </a:gs>
              <a:gs pos="52000">
                <a:srgbClr val="0838A8"/>
              </a:gs>
              <a:gs pos="100000">
                <a:srgbClr val="031852"/>
              </a:gs>
            </a:gsLst>
            <a:lin ang="0"/>
          </a:gradFill>
          <a:ln w="19050">
            <a:solidFill>
              <a:srgbClr val="67E8F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1">
            <a:srgbClr val="FFFFFF"/>
          </a:effectRef>
          <a:fontRef idx="major"/>
        </p:style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1619250" y="5219700"/>
            <a:ext cx="819150" cy="723900"/>
          </a:xfrm>
          <a:prstGeom prst="roundRect">
            <a:avLst>
              <a:gd name="adj" fmla="val 10526"/>
            </a:avLst>
          </a:prstGeom>
          <a:solidFill>
            <a:srgbClr val="60A5FA"/>
          </a:solidFill>
          <a:ln w="28575">
            <a:solidFill>
              <a:srgbClr val="BFDBFE"/>
            </a:solidFill>
            <a:prstDash val="solid"/>
          </a:ln>
        </p:spPr>
      </p:sp>
      <p:sp>
        <p:nvSpPr>
          <p:cNvPr id="134" name="直接连接符 133"/>
          <p:cNvSpPr>
            <a:spLocks noGrp="1"/>
          </p:cNvSpPr>
          <p:nvPr/>
        </p:nvSpPr>
        <p:spPr>
          <a:xfrm>
            <a:off x="1857375" y="5581650"/>
            <a:ext cx="142875" cy="1524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135" name="直接连接符 134"/>
          <p:cNvSpPr>
            <a:spLocks noGrp="1"/>
          </p:cNvSpPr>
          <p:nvPr/>
        </p:nvSpPr>
        <p:spPr>
          <a:xfrm>
            <a:off x="2000250" y="5429250"/>
            <a:ext cx="304800" cy="30480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136" name="椭圆 135"/>
          <p:cNvSpPr>
            <a:spLocks noGrp="1"/>
          </p:cNvSpPr>
          <p:nvPr/>
        </p:nvSpPr>
        <p:spPr>
          <a:xfrm>
            <a:off x="10001250" y="5191125"/>
            <a:ext cx="876300" cy="762000"/>
          </a:xfrm>
          <a:prstGeom prst="ellipse">
            <a:avLst/>
          </a:prstGeom>
          <a:solidFill>
            <a:srgbClr val="0EA5E9">
              <a:alpha val="3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7" name="矩形 136"/>
          <p:cNvSpPr>
            <a:spLocks noGrp="1"/>
          </p:cNvSpPr>
          <p:nvPr/>
        </p:nvSpPr>
        <p:spPr>
          <a:xfrm>
            <a:off x="4000500" y="51054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效果证据与能力落地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2857500" y="5476875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知识库搜索 + 知识图谱 + AI 辅导引用 + 资源生成证据</a:t>
            </a:r>
            <a:endParaRPr sz="1800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3238500" y="576262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证据粒度：resourceId / page / slide / blockId / bbox / citation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圆角矩形 139"/>
          <p:cNvSpPr>
            <a:spLocks noGrp="1"/>
          </p:cNvSpPr>
          <p:nvPr/>
        </p:nvSpPr>
        <p:spPr>
          <a:xfrm>
            <a:off x="304800" y="6210300"/>
            <a:ext cx="2133600" cy="514350"/>
          </a:xfrm>
          <a:prstGeom prst="roundRect">
            <a:avLst>
              <a:gd name="adj" fmla="val 18519"/>
            </a:avLst>
          </a:prstGeom>
          <a:gradFill>
            <a:gsLst>
              <a:gs pos="0">
                <a:srgbClr val="F8FB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60A5FA"/>
            </a:solidFill>
            <a:prstDash val="solid"/>
          </a:ln>
        </p:spPr>
      </p:sp>
      <p:sp>
        <p:nvSpPr>
          <p:cNvPr id="141" name="矩形 140"/>
          <p:cNvSpPr>
            <a:spLocks noGrp="1"/>
          </p:cNvSpPr>
          <p:nvPr/>
        </p:nvSpPr>
        <p:spPr>
          <a:xfrm>
            <a:off x="476250" y="6305550"/>
            <a:ext cx="342900" cy="323850"/>
          </a:xfrm>
          <a:prstGeom prst="rect">
            <a:avLst/>
          </a:prstGeom>
          <a:solidFill>
            <a:srgbClr val="2563EB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42" name="椭圆 141"/>
          <p:cNvSpPr>
            <a:spLocks noGrp="1"/>
          </p:cNvSpPr>
          <p:nvPr/>
        </p:nvSpPr>
        <p:spPr>
          <a:xfrm>
            <a:off x="704850" y="6372225"/>
            <a:ext cx="209550" cy="209550"/>
          </a:xfrm>
          <a:prstGeom prst="ellipse">
            <a:avLst/>
          </a:prstGeom>
          <a:noFill/>
          <a:ln w="28575">
            <a:solidFill>
              <a:srgbClr val="1D4ED8"/>
            </a:solidFill>
            <a:prstDash val="solid"/>
          </a:ln>
        </p:spPr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876300" y="6553200"/>
            <a:ext cx="95250" cy="95250"/>
          </a:xfrm>
          <a:prstGeom prst="line">
            <a:avLst/>
          </a:prstGeom>
          <a:noFill/>
          <a:ln w="28575">
            <a:solidFill>
              <a:srgbClr val="1D4ED8"/>
            </a:solidFill>
            <a:prstDash val="solid"/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1047750" y="62960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知识库搜索</a:t>
            </a:r>
            <a:endParaRPr sz="1500" b="1">
              <a:solidFill>
                <a:srgbClr val="082F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1047750" y="652462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多索引检索与过滤</a:t>
            </a:r>
            <a:endParaRPr sz="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右箭头 145"/>
          <p:cNvSpPr>
            <a:spLocks noGrp="1"/>
          </p:cNvSpPr>
          <p:nvPr/>
        </p:nvSpPr>
        <p:spPr>
          <a:xfrm>
            <a:off x="2486025" y="6372225"/>
            <a:ext cx="323850" cy="190500"/>
          </a:xfrm>
          <a:prstGeom prst="rightArrow">
            <a:avLst/>
          </a:prstGeom>
          <a:solidFill>
            <a:srgbClr val="38BD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7" name="圆角矩形 146"/>
          <p:cNvSpPr>
            <a:spLocks noGrp="1"/>
          </p:cNvSpPr>
          <p:nvPr/>
        </p:nvSpPr>
        <p:spPr>
          <a:xfrm>
            <a:off x="2657475" y="6210300"/>
            <a:ext cx="2133600" cy="514350"/>
          </a:xfrm>
          <a:prstGeom prst="roundRect">
            <a:avLst>
              <a:gd name="adj" fmla="val 18519"/>
            </a:avLst>
          </a:prstGeom>
          <a:gradFill>
            <a:gsLst>
              <a:gs pos="0">
                <a:srgbClr val="F8FB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60A5FA"/>
            </a:solidFill>
            <a:prstDash val="solid"/>
          </a:ln>
        </p:spPr>
      </p:sp>
      <p:sp>
        <p:nvSpPr>
          <p:cNvPr id="148" name="直接连接符 147"/>
          <p:cNvSpPr>
            <a:spLocks noGrp="1"/>
          </p:cNvSpPr>
          <p:nvPr/>
        </p:nvSpPr>
        <p:spPr>
          <a:xfrm>
            <a:off x="2886075" y="6343650"/>
            <a:ext cx="171450" cy="1524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49" name="直接连接符 148"/>
          <p:cNvSpPr>
            <a:spLocks noGrp="1"/>
          </p:cNvSpPr>
          <p:nvPr/>
        </p:nvSpPr>
        <p:spPr>
          <a:xfrm>
            <a:off x="3057525" y="6343650"/>
            <a:ext cx="180975" cy="1905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50" name="直接连接符 149"/>
          <p:cNvSpPr>
            <a:spLocks noGrp="1"/>
          </p:cNvSpPr>
          <p:nvPr/>
        </p:nvSpPr>
        <p:spPr>
          <a:xfrm>
            <a:off x="3124200" y="6534150"/>
            <a:ext cx="114300" cy="9525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51" name="椭圆 150"/>
          <p:cNvSpPr>
            <a:spLocks noGrp="1"/>
          </p:cNvSpPr>
          <p:nvPr/>
        </p:nvSpPr>
        <p:spPr>
          <a:xfrm>
            <a:off x="2838450" y="6448425"/>
            <a:ext cx="95250" cy="95250"/>
          </a:xfrm>
          <a:prstGeom prst="ellipse">
            <a:avLst/>
          </a:prstGeom>
          <a:solidFill>
            <a:srgbClr val="60A5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52" name="椭圆 151"/>
          <p:cNvSpPr>
            <a:spLocks noGrp="1"/>
          </p:cNvSpPr>
          <p:nvPr/>
        </p:nvSpPr>
        <p:spPr>
          <a:xfrm>
            <a:off x="3009900" y="6296025"/>
            <a:ext cx="95250" cy="95250"/>
          </a:xfrm>
          <a:prstGeom prst="ellipse">
            <a:avLst/>
          </a:prstGeom>
          <a:solidFill>
            <a:srgbClr val="60A5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53" name="椭圆 152"/>
          <p:cNvSpPr>
            <a:spLocks noGrp="1"/>
          </p:cNvSpPr>
          <p:nvPr/>
        </p:nvSpPr>
        <p:spPr>
          <a:xfrm>
            <a:off x="3190875" y="6486525"/>
            <a:ext cx="95250" cy="95250"/>
          </a:xfrm>
          <a:prstGeom prst="ellipse">
            <a:avLst/>
          </a:prstGeom>
          <a:solidFill>
            <a:srgbClr val="60A5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54" name="椭圆 153"/>
          <p:cNvSpPr>
            <a:spLocks noGrp="1"/>
          </p:cNvSpPr>
          <p:nvPr/>
        </p:nvSpPr>
        <p:spPr>
          <a:xfrm>
            <a:off x="3076575" y="6581775"/>
            <a:ext cx="95250" cy="95250"/>
          </a:xfrm>
          <a:prstGeom prst="ellipse">
            <a:avLst/>
          </a:prstGeom>
          <a:solidFill>
            <a:srgbClr val="60A5FA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3400425" y="62960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</a:t>
            </a:r>
            <a:endParaRPr sz="1500" b="1">
              <a:solidFill>
                <a:srgbClr val="082F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3400425" y="652462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 + 关系 + 证据</a:t>
            </a:r>
            <a:endParaRPr sz="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右箭头 156"/>
          <p:cNvSpPr>
            <a:spLocks noGrp="1"/>
          </p:cNvSpPr>
          <p:nvPr/>
        </p:nvSpPr>
        <p:spPr>
          <a:xfrm>
            <a:off x="4838700" y="6372225"/>
            <a:ext cx="323850" cy="190500"/>
          </a:xfrm>
          <a:prstGeom prst="rightArrow">
            <a:avLst/>
          </a:prstGeom>
          <a:solidFill>
            <a:srgbClr val="38BD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8" name="圆角矩形 157"/>
          <p:cNvSpPr>
            <a:spLocks noGrp="1"/>
          </p:cNvSpPr>
          <p:nvPr/>
        </p:nvSpPr>
        <p:spPr>
          <a:xfrm>
            <a:off x="5010150" y="6210300"/>
            <a:ext cx="2133600" cy="514350"/>
          </a:xfrm>
          <a:prstGeom prst="roundRect">
            <a:avLst>
              <a:gd name="adj" fmla="val 18519"/>
            </a:avLst>
          </a:prstGeom>
          <a:gradFill>
            <a:gsLst>
              <a:gs pos="0">
                <a:srgbClr val="F8FB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60A5FA"/>
            </a:solidFill>
            <a:prstDash val="solid"/>
          </a:ln>
        </p:spPr>
      </p:sp>
      <p:sp>
        <p:nvSpPr>
          <p:cNvPr id="159" name="圆角矩形 158"/>
          <p:cNvSpPr>
            <a:spLocks noGrp="1"/>
          </p:cNvSpPr>
          <p:nvPr/>
        </p:nvSpPr>
        <p:spPr>
          <a:xfrm>
            <a:off x="5181600" y="6305550"/>
            <a:ext cx="457200" cy="34290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0" name="矩形 159"/>
          <p:cNvSpPr>
            <a:spLocks noGrp="1"/>
          </p:cNvSpPr>
          <p:nvPr/>
        </p:nvSpPr>
        <p:spPr>
          <a:xfrm>
            <a:off x="5753100" y="62960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辅导引用</a:t>
            </a:r>
            <a:endParaRPr sz="1500" b="1">
              <a:solidFill>
                <a:srgbClr val="082F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5753100" y="652462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可溯源回答与引用</a:t>
            </a:r>
            <a:endParaRPr sz="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右箭头 161"/>
          <p:cNvSpPr>
            <a:spLocks noGrp="1"/>
          </p:cNvSpPr>
          <p:nvPr/>
        </p:nvSpPr>
        <p:spPr>
          <a:xfrm>
            <a:off x="7191375" y="6372225"/>
            <a:ext cx="323850" cy="190500"/>
          </a:xfrm>
          <a:prstGeom prst="rightArrow">
            <a:avLst/>
          </a:prstGeom>
          <a:solidFill>
            <a:srgbClr val="38BD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3" name="圆角矩形 162"/>
          <p:cNvSpPr>
            <a:spLocks noGrp="1"/>
          </p:cNvSpPr>
          <p:nvPr/>
        </p:nvSpPr>
        <p:spPr>
          <a:xfrm>
            <a:off x="7362825" y="6210300"/>
            <a:ext cx="2133600" cy="514350"/>
          </a:xfrm>
          <a:prstGeom prst="roundRect">
            <a:avLst>
              <a:gd name="adj" fmla="val 18519"/>
            </a:avLst>
          </a:prstGeom>
          <a:gradFill>
            <a:gsLst>
              <a:gs pos="0">
                <a:srgbClr val="F8FB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60A5FA"/>
            </a:solidFill>
            <a:prstDash val="solid"/>
          </a:ln>
        </p:spPr>
      </p:sp>
      <p:sp>
        <p:nvSpPr>
          <p:cNvPr id="164" name="圆角矩形 163"/>
          <p:cNvSpPr>
            <a:spLocks noGrp="1"/>
          </p:cNvSpPr>
          <p:nvPr/>
        </p:nvSpPr>
        <p:spPr>
          <a:xfrm>
            <a:off x="7534275" y="6324600"/>
            <a:ext cx="457200" cy="323850"/>
          </a:xfrm>
          <a:prstGeom prst="roundRect">
            <a:avLst>
              <a:gd name="adj" fmla="val 23529"/>
            </a:avLst>
          </a:prstGeom>
          <a:solidFill>
            <a:srgbClr val="60A5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5" name="直接连接符 164"/>
          <p:cNvSpPr>
            <a:spLocks noGrp="1"/>
          </p:cNvSpPr>
          <p:nvPr/>
        </p:nvSpPr>
        <p:spPr>
          <a:xfrm>
            <a:off x="7705725" y="6486525"/>
            <a:ext cx="171450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66" name="直接连接符 165"/>
          <p:cNvSpPr>
            <a:spLocks noGrp="1"/>
          </p:cNvSpPr>
          <p:nvPr/>
        </p:nvSpPr>
        <p:spPr>
          <a:xfrm>
            <a:off x="7791450" y="6400800"/>
            <a:ext cx="0" cy="17145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67" name="矩形 166"/>
          <p:cNvSpPr>
            <a:spLocks noGrp="1"/>
          </p:cNvSpPr>
          <p:nvPr/>
        </p:nvSpPr>
        <p:spPr>
          <a:xfrm>
            <a:off x="8105775" y="62960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资源包生成</a:t>
            </a:r>
            <a:endParaRPr sz="1500" b="1">
              <a:solidFill>
                <a:srgbClr val="082F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矩形 167"/>
          <p:cNvSpPr>
            <a:spLocks noGrp="1"/>
          </p:cNvSpPr>
          <p:nvPr/>
        </p:nvSpPr>
        <p:spPr>
          <a:xfrm>
            <a:off x="8105775" y="652462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按主题打包与导出</a:t>
            </a:r>
            <a:endParaRPr sz="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右箭头 168"/>
          <p:cNvSpPr>
            <a:spLocks noGrp="1"/>
          </p:cNvSpPr>
          <p:nvPr/>
        </p:nvSpPr>
        <p:spPr>
          <a:xfrm>
            <a:off x="9544050" y="6372225"/>
            <a:ext cx="323850" cy="190500"/>
          </a:xfrm>
          <a:prstGeom prst="rightArrow">
            <a:avLst/>
          </a:prstGeom>
          <a:solidFill>
            <a:srgbClr val="38BDF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0" name="圆角矩形 169"/>
          <p:cNvSpPr>
            <a:spLocks noGrp="1"/>
          </p:cNvSpPr>
          <p:nvPr/>
        </p:nvSpPr>
        <p:spPr>
          <a:xfrm>
            <a:off x="9715500" y="6210300"/>
            <a:ext cx="2133600" cy="514350"/>
          </a:xfrm>
          <a:prstGeom prst="roundRect">
            <a:avLst>
              <a:gd name="adj" fmla="val 18519"/>
            </a:avLst>
          </a:prstGeom>
          <a:gradFill>
            <a:gsLst>
              <a:gs pos="0">
                <a:srgbClr val="F8FBFF"/>
              </a:gs>
              <a:gs pos="100000">
                <a:srgbClr val="DBEAFE"/>
              </a:gs>
            </a:gsLst>
            <a:lin ang="0"/>
          </a:gradFill>
          <a:ln w="19050">
            <a:solidFill>
              <a:srgbClr val="60A5FA"/>
            </a:solidFill>
            <a:prstDash val="solid"/>
          </a:ln>
        </p:spPr>
      </p:sp>
      <p:sp>
        <p:nvSpPr>
          <p:cNvPr id="171" name="圆角矩形 170"/>
          <p:cNvSpPr>
            <a:spLocks noGrp="1"/>
          </p:cNvSpPr>
          <p:nvPr/>
        </p:nvSpPr>
        <p:spPr>
          <a:xfrm>
            <a:off x="9944100" y="6286500"/>
            <a:ext cx="361950" cy="381000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2" name="矩形 171"/>
          <p:cNvSpPr>
            <a:spLocks noGrp="1"/>
          </p:cNvSpPr>
          <p:nvPr/>
        </p:nvSpPr>
        <p:spPr>
          <a:xfrm>
            <a:off x="10458450" y="62960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2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Verifier 验证</a:t>
            </a:r>
            <a:endParaRPr sz="1500" b="1">
              <a:solidFill>
                <a:srgbClr val="082F9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矩形 172"/>
          <p:cNvSpPr>
            <a:spLocks noGrp="1"/>
          </p:cNvSpPr>
          <p:nvPr/>
        </p:nvSpPr>
        <p:spPr>
          <a:xfrm>
            <a:off x="10458450" y="6524625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证据校验与一致性</a:t>
            </a:r>
            <a:endParaRPr sz="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>
              <a:srgbClr val="38BDF8">
                <a:alpha val="80000"/>
              </a:srgbClr>
            </a:outerShdw>
          </a:effectLst>
        </a:effectStyle>
        <a:effectStyle>
          <a:effectLst>
            <a:outerShdw blurRad="171450">
              <a:srgbClr val="38BDF8">
                <a:alpha val="5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>
              <a:srgbClr val="38BDF8">
                <a:alpha val="80000"/>
              </a:srgbClr>
            </a:outerShdw>
          </a:effectLst>
        </a:effectStyle>
        <a:effectStyle>
          <a:effectLst>
            <a:outerShdw blurRad="171450">
              <a:srgbClr val="38BDF8">
                <a:alpha val="5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WPS 演示</Application>
  <PresentationFormat>Converted Presentation</PresentationFormat>
  <Paragraphs>83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zc</cp:lastModifiedBy>
  <cp:revision>1</cp:revision>
  <dcterms:created xsi:type="dcterms:W3CDTF">2026-07-10T03:59:11Z</dcterms:created>
  <dcterms:modified xsi:type="dcterms:W3CDTF">2026-07-10T03:59:11Z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602CB505075A455D93F63960747C1D00_12</vt:lpwstr>
  </property>
  <property fmtid="{D5CDD505-2E9C-101B-9397-08002B2CF9AE}" pid="3" name="KSOProductBuildVer">
    <vt:lpwstr>2052-12.1.0.26895</vt:lpwstr>
  </property>
</Properties>
</file>